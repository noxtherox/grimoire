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045c82ebea4bdc" /><Relationship Type="http://schemas.openxmlformats.org/officeDocument/2006/relationships/extended-properties" Target="/docProps/app.xml" Id="R6b148464e22a46ae" /><Relationship Type="http://schemas.openxmlformats.org/officeDocument/2006/relationships/officeDocument" Target="/ppt/presentation.xml" Id="Rad9e4555f81a4f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773977d1ee4f7e"/>
  </p:sldMasterIdLst>
  <p:notesMasterIdLst>
    <p:notesMasterId xmlns:r="http://schemas.openxmlformats.org/officeDocument/2006/relationships" r:id="Rbde4cde1e7f64f03"/>
  </p:notesMasterIdLst>
  <p:sldIdLst>
    <p:sldId xmlns:r="http://schemas.openxmlformats.org/officeDocument/2006/relationships" id="256" r:id="R8e13b3b7ce2d497d"/>
    <p:sldId xmlns:r="http://schemas.openxmlformats.org/officeDocument/2006/relationships" id="257" r:id="R44abf69480404162"/>
    <p:sldId xmlns:r="http://schemas.openxmlformats.org/officeDocument/2006/relationships" id="258" r:id="Rb4a17e569b2f41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4ee40dfdf3477d" /><Relationship Type="http://schemas.openxmlformats.org/officeDocument/2006/relationships/slideMaster" Target="/ppt/slideMasters/slideMaster1.xml" Id="R18773977d1ee4f7e" /><Relationship Type="http://schemas.openxmlformats.org/officeDocument/2006/relationships/notesMaster" Target="/ppt/notesMasters/notesMaster1.xml" Id="Rbde4cde1e7f64f03" /><Relationship Type="http://schemas.openxmlformats.org/officeDocument/2006/relationships/presProps" Target="/ppt/presProps.xml" Id="Re88fa70467554a12" /><Relationship Type="http://schemas.openxmlformats.org/officeDocument/2006/relationships/tableStyles" Target="/ppt/tableStyles.xml" Id="Rf5bc0b03ce134fbd" /><Relationship Type="http://schemas.openxmlformats.org/officeDocument/2006/relationships/slide" Target="/ppt/slides/slide1.xml" Id="R8e13b3b7ce2d497d" /><Relationship Type="http://schemas.openxmlformats.org/officeDocument/2006/relationships/slide" Target="/ppt/slides/slide2.xml" Id="R44abf69480404162" /><Relationship Type="http://schemas.openxmlformats.org/officeDocument/2006/relationships/slide" Target="/ppt/slides/slide3.xml" Id="Rb4a17e569b2f41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317c99e1db44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9c40e665b44a33" /><Relationship Type="http://schemas.openxmlformats.org/officeDocument/2006/relationships/notesMaster" Target="/ppt/notesMasters/notesMaster1.xml" Id="Rb91e5ba5443d4f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580cfc6de447b9" /><Relationship Type="http://schemas.openxmlformats.org/officeDocument/2006/relationships/notesMaster" Target="/ppt/notesMasters/notesMaster1.xml" Id="Re5b3341513c740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3f1e62111a4966" /><Relationship Type="http://schemas.openxmlformats.org/officeDocument/2006/relationships/notesMaster" Target="/ppt/notesMasters/notesMaster1.xml" Id="Rf9b6987c825b41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0556ea207848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734fc9fd474204" /><Relationship Type="http://schemas.openxmlformats.org/officeDocument/2006/relationships/slideLayout" Target="/ppt/slideLayouts/slideLayout1.xml" Id="R8e6c50fbcfae48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6c50fbcfae48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44ae1f951414a" /><Relationship Type="http://schemas.openxmlformats.org/officeDocument/2006/relationships/image" Target="/ppt/media/image.png" Id="R9f050da0ef3b4e94" /><Relationship Type="http://schemas.openxmlformats.org/officeDocument/2006/relationships/notesSlide" Target="/ppt/notesSlides/notesSlide1.xml" Id="R1aab181c8d6844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7366c9406430c" /><Relationship Type="http://schemas.openxmlformats.org/officeDocument/2006/relationships/image" Target="/ppt/media/image2.png" Id="Re5572afb7b0c4f84" /><Relationship Type="http://schemas.openxmlformats.org/officeDocument/2006/relationships/notesSlide" Target="/ppt/notesSlides/notesSlide2.xml" Id="R94ea9a5f99bd45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ce0addbae4b7a" /><Relationship Type="http://schemas.openxmlformats.org/officeDocument/2006/relationships/notesSlide" Target="/ppt/notesSlides/notesSlide3.xml" Id="Rdef206d4c1c045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grimoire-m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50da0ef3b4e94"/>
          <a:stretch xmlns:a="http://schemas.openxmlformats.org/drawingml/2006/main"/>
        </p:blipFill>
        <p:spPr>
          <a:xfrm xmlns:a="http://schemas.openxmlformats.org/drawingml/2006/main">
            <a:off x="390525" y="333375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F90A2C5F-F564-4B42-8AA3-B8C5CCEE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7675"/>
            <a:ext cx="2667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GRIMOIRE</a:t>
            </a:r>
          </a:p>
        </p:txBody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1A11097-D94B-4E8A-BD72-32252345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6725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D7BE0"/>
                </a:solidFill>
                <a:latin typeface="Helvetica Neue"/>
                <a:ea typeface="Helvetica Neue"/>
                <a:cs typeface="Helvetica Neue"/>
              </a:defRPr>
            </a:pPr>
            <a:r>
              <a:t>LOCAL-FIRST MARKDOWN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B5FA365-79F7-4F27-95E1-BF6AC1F5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0"/>
            <a:ext cx="9810750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Notes that stay yours.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334864-AF0B-4D3C-89E3-96319AF4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819650"/>
            <a:ext cx="7429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A606A"/>
                </a:solidFill>
                <a:latin typeface="Helvetica Neue"/>
                <a:ea typeface="Helvetica Neue"/>
                <a:cs typeface="Helvetica Neue"/>
              </a:defRPr>
            </a:pPr>
            <a:r>
              <a:t>A focused desktop workspace built on ordinary folders, Markdown files, and links.</a:t>
            </a:r>
          </a:p>
        </p:txBody>
      </p:sp>
      <p:sp>
        <p:nvSpPr>
          <p:cNvPr id="6" name="cover-accent-rule">
            <a:extLst xmlns:a="http://schemas.openxmlformats.org/drawingml/2006/main">
              <a:ext uri="{FF2B5EF4-FFF2-40B4-BE49-F238E27FC236}">
                <a16:creationId xmlns:a16="http://schemas.microsoft.com/office/drawing/2014/main" id="{EF669129-12D5-4B2A-AC6F-3BBA7349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81700"/>
            <a:ext cx="1562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DCF64F44-DD38-4FD0-AE51-EA1662A9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57B85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79870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ocal-first-title">
            <a:extLst xmlns:a="http://schemas.openxmlformats.org/drawingml/2006/main">
              <a:ext uri="{FF2B5EF4-FFF2-40B4-BE49-F238E27FC236}">
                <a16:creationId xmlns:a16="http://schemas.microsoft.com/office/drawing/2014/main" id="{FD2923FC-1C31-40F0-AFE2-75CD4D19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Your vault is a folder—not a database</a:t>
            </a:r>
          </a:p>
        </p:txBody>
      </p:sp>
      <p:sp>
        <p:nvSpPr>
          <p:cNvPr id="2" name="local-first-kicker">
            <a:extLst xmlns:a="http://schemas.openxmlformats.org/drawingml/2006/main">
              <a:ext uri="{FF2B5EF4-FFF2-40B4-BE49-F238E27FC236}">
                <a16:creationId xmlns:a16="http://schemas.microsoft.com/office/drawing/2014/main" id="{432D07C9-4823-4682-B752-AD63381B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47850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7BE0"/>
                </a:solidFill>
                <a:latin typeface="Helvetica Neue"/>
                <a:ea typeface="Helvetica Neue"/>
                <a:cs typeface="Helvetica Neue"/>
              </a:defRPr>
            </a:pPr>
            <a:r>
              <a:t>POINT GRIMOIRE AT ANY FOLDER</a:t>
            </a:r>
          </a:p>
        </p:txBody>
      </p:sp>
      <p:sp>
        <p:nvSpPr>
          <p:cNvPr id="3" name="local-first-body">
            <a:extLst xmlns:a="http://schemas.openxmlformats.org/drawingml/2006/main">
              <a:ext uri="{FF2B5EF4-FFF2-40B4-BE49-F238E27FC236}">
                <a16:creationId xmlns:a16="http://schemas.microsoft.com/office/drawing/2014/main" id="{C18D9334-AC25-471E-A40A-C264280D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52675"/>
            <a:ext cx="5191125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Files stay as Markdown. Folders become note types. YAML properties remain readable everywhere.</a:t>
            </a:r>
          </a:p>
        </p:txBody>
      </p:sp>
      <p:sp>
        <p:nvSpPr>
          <p:cNvPr id="4" name="workflow-rail">
            <a:extLst xmlns:a="http://schemas.openxmlformats.org/drawingml/2006/main">
              <a:ext uri="{FF2B5EF4-FFF2-40B4-BE49-F238E27FC236}">
                <a16:creationId xmlns:a16="http://schemas.microsoft.com/office/drawing/2014/main" id="{F0473792-6C97-47D6-BAB8-5EA46955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95800"/>
            <a:ext cx="5191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orkflow-copy">
            <a:extLst xmlns:a="http://schemas.openxmlformats.org/drawingml/2006/main">
              <a:ext uri="{FF2B5EF4-FFF2-40B4-BE49-F238E27FC236}">
                <a16:creationId xmlns:a16="http://schemas.microsoft.com/office/drawing/2014/main" id="{59D74C5E-1889-4929-86B4-532BD5EC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9650"/>
            <a:ext cx="47148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B2E33"/>
                </a:solidFill>
                <a:latin typeface="Helvetica Neue"/>
                <a:ea typeface="Helvetica Neue"/>
                <a:cs typeface="Helvetica Neue"/>
              </a:defRPr>
            </a:pPr>
            <a:r>
              <a:t>Edit in Grimoire  ·  sync with your cloud  ·  version with Git</a:t>
            </a:r>
          </a:p>
        </p:txBody>
      </p:sp>
      <p:sp>
        <p:nvSpPr>
          <p:cNvPr id="6" name="screenshot-backing">
            <a:extLst xmlns:a="http://schemas.openxmlformats.org/drawingml/2006/main">
              <a:ext uri="{FF2B5EF4-FFF2-40B4-BE49-F238E27FC236}">
                <a16:creationId xmlns:a16="http://schemas.microsoft.com/office/drawing/2014/main" id="{C05B56F0-DDD9-4DB4-BF70-A917A254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554355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grimoire-workspace-screen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72afb7b0c4f84"/>
          <a:srcRect xmlns:a="http://schemas.openxmlformats.org/drawingml/2006/main" l="10150" t="0" r="101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428750"/>
            <a:ext cx="5543550" cy="4572000"/>
          </a:xfrm>
          <a:prstGeom xmlns:a="http://schemas.openxmlformats.org/drawingml/2006/main" prst="roundRect">
            <a:avLst/>
          </a:prstGeom>
        </p:spPr>
      </p:pic>
      <p:sp>
        <p:nvSpPr>
          <p:cNvPr id="8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C1FBE655-09E9-4008-B2F4-748CDB5F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57B85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89840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workflow-title">
            <a:extLst xmlns:a="http://schemas.openxmlformats.org/drawingml/2006/main">
              <a:ext uri="{FF2B5EF4-FFF2-40B4-BE49-F238E27FC236}">
                <a16:creationId xmlns:a16="http://schemas.microsoft.com/office/drawing/2014/main" id="{11799103-E006-4F51-AEBF-B88947C3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Structure and connection—without lock-in</a:t>
            </a:r>
          </a:p>
        </p:txBody>
      </p:sp>
      <p:sp>
        <p:nvSpPr>
          <p:cNvPr id="2" name="write-number">
            <a:extLst xmlns:a="http://schemas.openxmlformats.org/drawingml/2006/main">
              <a:ext uri="{FF2B5EF4-FFF2-40B4-BE49-F238E27FC236}">
                <a16:creationId xmlns:a16="http://schemas.microsoft.com/office/drawing/2014/main" id="{71C48080-F0FF-47DE-A4D7-E1E0F458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19275"/>
            <a:ext cx="1047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3D7BE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3" name="connect-number">
            <a:extLst xmlns:a="http://schemas.openxmlformats.org/drawingml/2006/main">
              <a:ext uri="{FF2B5EF4-FFF2-40B4-BE49-F238E27FC236}">
                <a16:creationId xmlns:a16="http://schemas.microsoft.com/office/drawing/2014/main" id="{5D025CF5-342F-46A4-87B4-125AC0FE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19275"/>
            <a:ext cx="1047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3D7BE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4" name="organize-number">
            <a:extLst xmlns:a="http://schemas.openxmlformats.org/drawingml/2006/main">
              <a:ext uri="{FF2B5EF4-FFF2-40B4-BE49-F238E27FC236}">
                <a16:creationId xmlns:a16="http://schemas.microsoft.com/office/drawing/2014/main" id="{136D3EF8-EB32-41FD-86C7-BBDCD174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19275"/>
            <a:ext cx="1047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3D7BE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5" name="write-column">
            <a:extLst xmlns:a="http://schemas.openxmlformats.org/drawingml/2006/main">
              <a:ext uri="{FF2B5EF4-FFF2-40B4-BE49-F238E27FC236}">
                <a16:creationId xmlns:a16="http://schemas.microsoft.com/office/drawing/2014/main" id="{E6E4EE3A-CCBC-4DA2-ADA0-65FF81F2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38450"/>
            <a:ext cx="3333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WRITE
Focused Markdown editing with live formatting, tables, links, and pasted images.</a:t>
            </a:r>
          </a:p>
        </p:txBody>
      </p:sp>
      <p:sp>
        <p:nvSpPr>
          <p:cNvPr id="6" name="connect-column">
            <a:extLst xmlns:a="http://schemas.openxmlformats.org/drawingml/2006/main">
              <a:ext uri="{FF2B5EF4-FFF2-40B4-BE49-F238E27FC236}">
                <a16:creationId xmlns:a16="http://schemas.microsoft.com/office/drawing/2014/main" id="{F6101AED-617F-4BB0-B187-D0B0F96C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38450"/>
            <a:ext cx="3333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
Wikilinks, backlinks, and note relations turn separate files into a knowledge network.</a:t>
            </a:r>
          </a:p>
        </p:txBody>
      </p:sp>
      <p:sp>
        <p:nvSpPr>
          <p:cNvPr id="7" name="organize-column">
            <a:extLst xmlns:a="http://schemas.openxmlformats.org/drawingml/2006/main">
              <a:ext uri="{FF2B5EF4-FFF2-40B4-BE49-F238E27FC236}">
                <a16:creationId xmlns:a16="http://schemas.microsoft.com/office/drawing/2014/main" id="{D490AB20-50E6-40AD-9C0B-B4A81461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3333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ORGANIZE
Nested note types, property filters, pinning, archives, and recoverable trash keep work navigable.</a:t>
            </a:r>
          </a:p>
        </p:txBody>
      </p:sp>
      <p:sp>
        <p:nvSpPr>
          <p:cNvPr id="8" name="closing-rail">
            <a:extLst xmlns:a="http://schemas.openxmlformats.org/drawingml/2006/main">
              <a:ext uri="{FF2B5EF4-FFF2-40B4-BE49-F238E27FC236}">
                <a16:creationId xmlns:a16="http://schemas.microsoft.com/office/drawing/2014/main" id="{5B9516A2-3F13-473D-A8A9-47D06326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81600"/>
            <a:ext cx="114014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osing-message">
            <a:extLst xmlns:a="http://schemas.openxmlformats.org/drawingml/2006/main">
              <a:ext uri="{FF2B5EF4-FFF2-40B4-BE49-F238E27FC236}">
                <a16:creationId xmlns:a16="http://schemas.microsoft.com/office/drawing/2014/main" id="{8F193C0B-6C61-4F05-BCB6-0B9F7634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839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2630"/>
                </a:solidFill>
                <a:latin typeface="Helvetica Neue"/>
                <a:ea typeface="Helvetica Neue"/>
                <a:cs typeface="Helvetica Neue"/>
              </a:defRPr>
            </a:pPr>
            <a:r>
              <a:t>Choose a folder. Keep every Markdown tool you already trust.</a:t>
            </a:r>
          </a:p>
        </p:txBody>
      </p:sp>
      <p:sp>
        <p:nvSpPr>
          <p:cNvPr id="10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80654729-B87F-4630-BD09-A5C11172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53175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57B85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32713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2026-07-19T23:07:10.6340000Z</dcterms:created>
  <dcterms:modified xsi:type="dcterms:W3CDTF">2026-07-19T23:07:10.6340000Z</dcterms:modified>
</coreProperties>
</file>